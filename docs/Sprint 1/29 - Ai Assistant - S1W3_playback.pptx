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6EA2B-0DA3-0427-19C5-87974A1777A1}" v="66" dt="2026-09-11T04:49:23.408"/>
    <p1510:client id="{60E1EE13-BE8A-F0D4-519B-156E26536CD9}" v="23" dt="2026-09-11T06:21:32.223"/>
    <p1510:client id="{A11D0879-77CD-403E-9788-3C2BEF796EC8}" v="595" dt="2026-09-11T07:22:05.258"/>
    <p1510:client id="{B4E92AB5-91D8-5378-77AE-C788A45AE9A7}" v="389" dt="2026-09-11T07:08:21.135"/>
    <p1510:client id="{BA2DC5BA-14FB-7A00-A4C3-A633D58681B5}" v="1" dt="2026-09-11T07:07:44.335"/>
    <p1510:client id="{DEAE5122-30B4-5EC3-E962-B8B01FEE71CF}" v="2" dt="2026-09-11T08:06:13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9F7B3-BCE9-477F-89D2-B55158C5A684}" type="datetimeFigureOut"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5535D-5E69-464B-90C9-BB477D5837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535D-5E69-464B-90C9-BB477D5837D3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07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535D-5E69-464B-90C9-BB477D5837D3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89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535D-5E69-464B-90C9-BB477D5837D3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35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535D-5E69-464B-90C9-BB477D5837D3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06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535D-5E69-464B-90C9-BB477D5837D3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77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535D-5E69-464B-90C9-BB477D5837D3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04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535D-5E69-464B-90C9-BB477D5837D3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14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535D-5E69-464B-90C9-BB477D5837D3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15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535D-5E69-464B-90C9-BB477D5837D3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57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24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500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1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9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6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61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772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759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0431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971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015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78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13335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527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55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217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9261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2934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7460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34773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6614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4145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2445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831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394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129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20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6095-A60F-563A-3C42-4FACF83E8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D7195-BA94-30A1-070B-BDC20BF72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B8E4F-9267-3419-D35A-8BF96E0F9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EA963-71BF-B970-6AFC-0B724E8B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5B4F2-BB1A-DA2F-3930-60C5AFAF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4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0FF3BA7E-372A-47D7-A2AF-21BD271F06C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8882C13C-08C5-464E-A4E8-B4723F3CA8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756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2DE9E-DA49-3734-8192-6CA09A877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304" y="1818354"/>
            <a:ext cx="8070937" cy="2387600"/>
          </a:xfrm>
        </p:spPr>
        <p:txBody>
          <a:bodyPr/>
          <a:lstStyle/>
          <a:p>
            <a:r>
              <a:rPr lang="en-US" b="1">
                <a:latin typeface="+mn-lt"/>
                <a:ea typeface="Cambria" pitchFamily="34" charset="-122"/>
                <a:cs typeface="Cambria" pitchFamily="34" charset="-120"/>
              </a:rPr>
              <a:t>SPRINT 1 PLAYBACK</a:t>
            </a:r>
            <a:br>
              <a:rPr lang="en-US">
                <a:latin typeface="+mn-lt"/>
              </a:rPr>
            </a:br>
            <a:endParaRPr lang="en-US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B0CE1-1DD8-0ECD-44A7-742670DB9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391" y="4725407"/>
            <a:ext cx="9090765" cy="1021403"/>
          </a:xfrm>
        </p:spPr>
        <p:txBody>
          <a:bodyPr/>
          <a:lstStyle/>
          <a:p>
            <a:r>
              <a:rPr lang="en-US" sz="1600">
                <a:solidFill>
                  <a:srgbClr val="CADCFC"/>
                </a:solidFill>
                <a:latin typeface="Abadi" panose="020F0502020204030204" pitchFamily="34" charset="0"/>
                <a:ea typeface="Calibri" pitchFamily="34" charset="-122"/>
                <a:cs typeface="Calibri" pitchFamily="34" charset="-120"/>
              </a:rPr>
              <a:t>29 - AI Assistant for HR  Team 1 (Garage) </a:t>
            </a:r>
            <a:r>
              <a:rPr lang="en-US" sz="1600" i="1">
                <a:latin typeface="Abadi" panose="020F0502020204030204" pitchFamily="34" charset="0"/>
                <a:ea typeface="Calibri" pitchFamily="34" charset="-122"/>
                <a:cs typeface="Calibri" pitchFamily="34" charset="-120"/>
              </a:rPr>
              <a:t>Core MVP: Employee Onboarding Assistant</a:t>
            </a:r>
            <a:endParaRPr lang="en-US" sz="1600">
              <a:latin typeface="Abadi" panose="020F0502020204030204" pitchFamily="34" charset="0"/>
            </a:endParaRPr>
          </a:p>
          <a:p>
            <a:endParaRPr lang="en-US" sz="1600">
              <a:latin typeface="Abadi" panose="020F0502020204030204" pitchFamily="34" charset="0"/>
            </a:endParaRP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920F7-1B37-27B5-8127-6A783E330526}"/>
              </a:ext>
            </a:extLst>
          </p:cNvPr>
          <p:cNvSpPr txBox="1"/>
          <p:nvPr/>
        </p:nvSpPr>
        <p:spPr>
          <a:xfrm>
            <a:off x="742167" y="378531"/>
            <a:ext cx="6093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MVP: Employee Onboarding Assistant</a:t>
            </a:r>
            <a:endParaRPr lang="en-US" sz="140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D242D63C-C986-9774-079B-FB7FBC624434}"/>
              </a:ext>
            </a:extLst>
          </p:cNvPr>
          <p:cNvSpPr/>
          <p:nvPr/>
        </p:nvSpPr>
        <p:spPr>
          <a:xfrm>
            <a:off x="3961356" y="349539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Scarlett Heng (BA)  •  Nihal Reddy Gaddam (Dev)  •  Arman Gholami (UX)  •  Minh Quang Tran (Dev)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2455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D42F-9AF6-E4C4-B3B9-9E3E12CA3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32564"/>
            <a:ext cx="9830017" cy="731520"/>
          </a:xfrm>
        </p:spPr>
        <p:txBody>
          <a:bodyPr>
            <a:normAutofit fontScale="90000"/>
          </a:bodyPr>
          <a:lstStyle/>
          <a:p>
            <a:r>
              <a:rPr lang="en-US" sz="2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br>
              <a:rPr lang="en-US" sz="2000"/>
            </a:br>
            <a:r>
              <a:rPr lang="en-US" sz="2000" kern="0" spc="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ACHIEVEMENT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4B334-E42F-D2F9-B788-FB165880B2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>
                <a:latin typeface="Calibri" pitchFamily="34" charset="0"/>
                <a:ea typeface="Calibri" pitchFamily="34" charset="-122"/>
                <a:cs typeface="Calibri" pitchFamily="34" charset="-120"/>
              </a:rPr>
              <a:t>Garage's AI Assistant for HR gives employees instant help with routine HR tasks instead of waiting on manual replies from HR staff.</a:t>
            </a:r>
            <a:endParaRPr lang="en-US" sz="2000"/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736506-A850-90B1-DB2C-E9410A0FCA90}"/>
              </a:ext>
            </a:extLst>
          </p:cNvPr>
          <p:cNvSpPr/>
          <p:nvPr/>
        </p:nvSpPr>
        <p:spPr>
          <a:xfrm>
            <a:off x="2244894" y="3456432"/>
            <a:ext cx="2968669" cy="279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Who it's for</a:t>
            </a:r>
            <a:endParaRPr lang="en-US">
              <a:latin typeface="Cambria"/>
              <a:ea typeface="Cambria"/>
            </a:endParaRPr>
          </a:p>
          <a:p>
            <a:pPr algn="ctr"/>
            <a:endParaRPr lang="en-US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Onboarding for new employees at Garage-style startups that require fast and accurate onboarding information.</a:t>
            </a:r>
          </a:p>
          <a:p>
            <a:pPr algn="ctr"/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74709B-1955-7FE0-3A77-FC9C41D062B8}"/>
              </a:ext>
            </a:extLst>
          </p:cNvPr>
          <p:cNvSpPr/>
          <p:nvPr/>
        </p:nvSpPr>
        <p:spPr>
          <a:xfrm>
            <a:off x="6978437" y="3465576"/>
            <a:ext cx="2968669" cy="279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>
              <a:solidFill>
                <a:srgbClr val="1E276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algn="ctr"/>
            <a:r>
              <a:rPr lang="en-US" b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The pain point</a:t>
            </a:r>
          </a:p>
          <a:p>
            <a:pPr algn="ctr"/>
            <a:endParaRPr lang="en-US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Repetitive onboarding questions can hurt onboarding speed for new employees and take time away from actual HR employees. </a:t>
            </a:r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78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AA3A-8038-964A-6BF7-4FC06B34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Plan</a:t>
            </a:r>
            <a:br>
              <a:rPr lang="en-US" sz="2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2000" kern="0" spc="10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r>
              <a:rPr lang="en-US" sz="2000" kern="0" spc="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ACHIEVEMENT</a:t>
            </a:r>
            <a:br>
              <a:rPr lang="en-US"/>
            </a:br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343F56-C313-961F-CA94-0C2944DBCDA6}"/>
              </a:ext>
            </a:extLst>
          </p:cNvPr>
          <p:cNvSpPr/>
          <p:nvPr/>
        </p:nvSpPr>
        <p:spPr>
          <a:xfrm>
            <a:off x="462628" y="1979112"/>
            <a:ext cx="1615858" cy="11492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Week 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5F67B2-D184-7AB4-3C95-448552F2ED37}"/>
              </a:ext>
            </a:extLst>
          </p:cNvPr>
          <p:cNvSpPr/>
          <p:nvPr/>
        </p:nvSpPr>
        <p:spPr>
          <a:xfrm>
            <a:off x="462628" y="3545909"/>
            <a:ext cx="1615858" cy="11492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Week 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CEB457-3E56-5EA2-630E-E983198282F0}"/>
              </a:ext>
            </a:extLst>
          </p:cNvPr>
          <p:cNvSpPr/>
          <p:nvPr/>
        </p:nvSpPr>
        <p:spPr>
          <a:xfrm>
            <a:off x="462628" y="5112706"/>
            <a:ext cx="1615858" cy="11492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Week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D0E6B5-1F2B-D96B-9B2E-AAE7A5BC5C93}"/>
              </a:ext>
            </a:extLst>
          </p:cNvPr>
          <p:cNvSpPr txBox="1"/>
          <p:nvPr/>
        </p:nvSpPr>
        <p:spPr>
          <a:xfrm>
            <a:off x="2417523" y="2230577"/>
            <a:ext cx="589975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Research 5 candidate AI/HR use cases in depth.</a:t>
            </a:r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7714E-75EA-2AA8-F745-6ADC954D194F}"/>
              </a:ext>
            </a:extLst>
          </p:cNvPr>
          <p:cNvSpPr txBox="1"/>
          <p:nvPr/>
        </p:nvSpPr>
        <p:spPr>
          <a:xfrm>
            <a:off x="2417523" y="3819510"/>
            <a:ext cx="609391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>
                <a:latin typeface="Calibri"/>
                <a:ea typeface="Calibri"/>
                <a:cs typeface="Calibri"/>
              </a:rPr>
              <a:t>Shortlist to 2, gather requirements, build a validated low-fidelity prototype.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CBA0B-EB03-AC4A-6C88-D3C51642E816}"/>
              </a:ext>
            </a:extLst>
          </p:cNvPr>
          <p:cNvSpPr txBox="1"/>
          <p:nvPr/>
        </p:nvSpPr>
        <p:spPr>
          <a:xfrm>
            <a:off x="2411259" y="5410338"/>
            <a:ext cx="792271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>
                <a:latin typeface="Calibri"/>
                <a:ea typeface="Calibri"/>
                <a:cs typeface="Calibri"/>
              </a:rPr>
              <a:t>Finalize the single Core MVP use case, finalize design + technical approach, prepare for Sprint 2.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D6C30-BEA9-1F28-8202-017420F5D9EB}"/>
              </a:ext>
            </a:extLst>
          </p:cNvPr>
          <p:cNvSpPr txBox="1"/>
          <p:nvPr/>
        </p:nvSpPr>
        <p:spPr>
          <a:xfrm>
            <a:off x="301752" y="6406800"/>
            <a:ext cx="362310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29-Garage (RMIT)  |  AI Assistant for HR  |  Sprint 1 Playback</a:t>
            </a:r>
            <a:endParaRPr lang="en-US" sz="11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90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FC67-9C2D-BC1B-E0A4-F26CE8CA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Achievement</a:t>
            </a:r>
            <a:br>
              <a:rPr lang="en-US" sz="2000"/>
            </a:br>
            <a:r>
              <a:rPr lang="en-US" sz="2000" kern="0" spc="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ACHIEVEMENT - EVIDENCE</a:t>
            </a:r>
            <a:br>
              <a:rPr lang="en-US"/>
            </a:b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7CE32-36AD-7793-9DB6-99EED3CB84A6}"/>
              </a:ext>
            </a:extLst>
          </p:cNvPr>
          <p:cNvSpPr txBox="1"/>
          <p:nvPr/>
        </p:nvSpPr>
        <p:spPr>
          <a:xfrm>
            <a:off x="4388285" y="1986312"/>
            <a:ext cx="7803715" cy="1138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latin typeface="Calibri"/>
                <a:ea typeface="Calibri"/>
                <a:cs typeface="Calibri"/>
              </a:rPr>
              <a:t>Employee Onboarding confirmed as Core MVP - requirements, design, and technical approach finalized:</a:t>
            </a:r>
            <a:endParaRPr lang="en-US" sz="2000" b="1">
              <a:latin typeface="Arial Nova Light"/>
              <a:ea typeface="Calibri"/>
              <a:cs typeface="Calibri"/>
            </a:endParaRPr>
          </a:p>
          <a:p>
            <a:endParaRPr lang="en-US" sz="28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A990C9-8D06-EB81-1279-567DA7EB8145}"/>
              </a:ext>
            </a:extLst>
          </p:cNvPr>
          <p:cNvSpPr txBox="1"/>
          <p:nvPr/>
        </p:nvSpPr>
        <p:spPr>
          <a:xfrm>
            <a:off x="4388285" y="2815225"/>
            <a:ext cx="7496996" cy="5878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BA: </a:t>
            </a:r>
            <a:r>
              <a:rPr lang="en-US">
                <a:ea typeface="+mn-lt"/>
                <a:cs typeface="+mn-lt"/>
              </a:rPr>
              <a:t>Requirements are complete. Scope, escalation paths, assumptions, and AC are all captured.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b="1">
                <a:latin typeface="Arial Nova Light"/>
                <a:ea typeface="Calibri"/>
                <a:cs typeface="Calibri"/>
              </a:rPr>
              <a:t>UX: </a:t>
            </a:r>
            <a:r>
              <a:rPr lang="en-US">
                <a:latin typeface="Arial Nova Light"/>
                <a:ea typeface="Calibri"/>
                <a:cs typeface="Calibri"/>
              </a:rPr>
              <a:t>Updated design to include out-of-scope, escalation, success, and </a:t>
            </a:r>
            <a:r>
              <a:rPr lang="en-US" err="1">
                <a:latin typeface="Arial Nova Light"/>
                <a:ea typeface="Calibri"/>
                <a:cs typeface="Calibri"/>
              </a:rPr>
              <a:t>loadingstates</a:t>
            </a:r>
            <a:r>
              <a:rPr lang="en-US">
                <a:latin typeface="Arial Nova Light"/>
                <a:ea typeface="Calibri"/>
                <a:cs typeface="Calibri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b="1">
                <a:latin typeface="Arial Nova Light"/>
                <a:ea typeface="Calibri"/>
                <a:cs typeface="Calibri"/>
              </a:rPr>
              <a:t>Dev (Minh): </a:t>
            </a:r>
            <a:r>
              <a:rPr lang="en-US">
                <a:latin typeface="Arial Nova Light"/>
                <a:ea typeface="Calibri"/>
                <a:cs typeface="Calibri"/>
              </a:rPr>
              <a:t>AI Knowledge retrieval - technical solution outlined for ingestion, stack, and LLM connection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b="1">
                <a:latin typeface="Arial Nova Light"/>
                <a:ea typeface="Calibri"/>
                <a:cs typeface="Calibri"/>
              </a:rPr>
              <a:t>Dev (Nihal): </a:t>
            </a:r>
            <a:r>
              <a:rPr lang="en-US">
                <a:latin typeface="Arial Nova Light"/>
                <a:ea typeface="Calibri"/>
                <a:cs typeface="Calibri"/>
              </a:rPr>
              <a:t>Escalation and fallback - technical solution outlined for triggers and handoff path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Calibri" pitchFamily="34" charset="-122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Arial Nova Light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endParaRPr lang="en-US" sz="1400">
              <a:latin typeface="Arial Nova Light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Calibri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Arial Nova Light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endParaRPr lang="en-US" sz="1400">
              <a:latin typeface="Arial Nova Light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Calibri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Arial Nova Light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Arial Nova Light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F8E6F-5195-5548-4B93-D4382AEC674B}"/>
              </a:ext>
            </a:extLst>
          </p:cNvPr>
          <p:cNvSpPr txBox="1"/>
          <p:nvPr/>
        </p:nvSpPr>
        <p:spPr>
          <a:xfrm>
            <a:off x="587346" y="5939256"/>
            <a:ext cx="49742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Onboarding - Low-Fidelity Design</a:t>
            </a:r>
            <a:endParaRPr lang="en-US" sz="1200"/>
          </a:p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AC0E80-5BDD-E6B8-A9DD-7304B9E82F29}"/>
              </a:ext>
            </a:extLst>
          </p:cNvPr>
          <p:cNvSpPr txBox="1"/>
          <p:nvPr/>
        </p:nvSpPr>
        <p:spPr>
          <a:xfrm>
            <a:off x="301752" y="6471766"/>
            <a:ext cx="362310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29-Garage (RMIT)  |  AI Assistant for HR  |  Sprint 1 Playback</a:t>
            </a:r>
            <a:endParaRPr lang="en-US" sz="1100"/>
          </a:p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66D1AB-0D55-E0AC-5E76-7AD2C3B543B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06451" y="1991360"/>
            <a:ext cx="3722370" cy="358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8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8252-D675-B107-9E62-C99CE460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57824"/>
            <a:ext cx="9830017" cy="731520"/>
          </a:xfrm>
        </p:spPr>
        <p:txBody>
          <a:bodyPr>
            <a:normAutofit fontScale="90000"/>
          </a:bodyPr>
          <a:lstStyle/>
          <a:p>
            <a:r>
              <a:rPr lang="en-US" sz="3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br>
              <a:rPr lang="en-US" sz="2000"/>
            </a:br>
            <a:r>
              <a:rPr lang="en-US" sz="2000" kern="0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CANDOUR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F4B01-5472-C5E0-52C3-1F791C80AB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sz="2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Onboarding Assistant targets a measurable HR cost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New hires currently wait on manual replies for repetitive, predictable questions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HR have to answer the same questions repeatedly, consuming their valuable time </a:t>
            </a:r>
            <a:endParaRPr lang="en-US" sz="2000">
              <a:solidFill>
                <a:srgbClr val="FFFFFF"/>
              </a:solidFill>
              <a:latin typeface="Arial Nova Light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By automating this HR can be employed on more valuable judgement tasks </a:t>
            </a:r>
            <a:endParaRPr lang="en-US" sz="2000">
              <a:solidFill>
                <a:srgbClr val="FFFFFF"/>
              </a:solidFill>
              <a:latin typeface="Arial Nova Light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Char char="•"/>
            </a:pPr>
            <a:r>
              <a:rPr lang="en-US" sz="2000">
                <a:ea typeface="+mn-lt"/>
                <a:cs typeface="+mn-lt"/>
              </a:rPr>
              <a:t>Solution design and a proven technical solution exists supported by </a:t>
            </a:r>
            <a:r>
              <a:rPr lang="en-US" sz="2000" err="1">
                <a:ea typeface="+mn-lt"/>
                <a:cs typeface="+mn-lt"/>
              </a:rPr>
              <a:t>finalised</a:t>
            </a:r>
            <a:r>
              <a:rPr lang="en-US" sz="2000">
                <a:ea typeface="+mn-lt"/>
                <a:cs typeface="+mn-lt"/>
              </a:rPr>
              <a:t> requirements</a:t>
            </a:r>
            <a:endParaRPr lang="en-US" sz="2000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E44A1-EEA6-FC04-0388-8260901B6189}"/>
              </a:ext>
            </a:extLst>
          </p:cNvPr>
          <p:cNvSpPr txBox="1"/>
          <p:nvPr/>
        </p:nvSpPr>
        <p:spPr>
          <a:xfrm>
            <a:off x="301752" y="6400800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29-Garage (RMIT)  |  AI Assistant for HR  |  Sprint 1 Playback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7429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FA83-7EC3-4C9E-C67E-E73AFD8A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&amp; Open Questions</a:t>
            </a:r>
            <a:br>
              <a:rPr lang="en-US"/>
            </a:br>
            <a:r>
              <a:rPr lang="en-US" sz="1600" kern="0" spc="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CANDOUR</a:t>
            </a:r>
            <a:br>
              <a:rPr lang="en-US"/>
            </a:br>
            <a:endParaRPr lang="en-US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A7D977D-CB50-9606-D6A7-7F1A62AA253D}"/>
              </a:ext>
            </a:extLst>
          </p:cNvPr>
          <p:cNvSpPr/>
          <p:nvPr/>
        </p:nvSpPr>
        <p:spPr>
          <a:xfrm>
            <a:off x="698952" y="2971798"/>
            <a:ext cx="10244972" cy="178308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C9CC"/>
            </a:solidFill>
            <a:prstDash val="solid"/>
          </a:ln>
        </p:spPr>
        <p:txBody>
          <a:bodyPr lIns="91440" tIns="45720" rIns="91440" bIns="45720"/>
          <a:lstStyle/>
          <a:p>
            <a:r>
              <a:rPr lang="en-US" b="1">
                <a:solidFill>
                  <a:srgbClr val="8B2635"/>
                </a:solidFill>
                <a:latin typeface="Cambria"/>
                <a:ea typeface="Cambria"/>
                <a:cs typeface="Cambria" pitchFamily="34" charset="-120"/>
              </a:rPr>
              <a:t>Lack of Direction</a:t>
            </a:r>
            <a:endParaRPr lang="en-US">
              <a:latin typeface="Cambria"/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A1A1A"/>
                </a:solidFill>
                <a:ea typeface="+mn-lt"/>
                <a:cs typeface="+mn-lt"/>
              </a:rPr>
              <a:t>Team had a lack of direction &amp; idea in the initial sprint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A1A1A"/>
                </a:solidFill>
                <a:ea typeface="+mn-lt"/>
                <a:cs typeface="+mn-lt"/>
              </a:rPr>
              <a:t>No finalized business requirements, current sprint is focused on research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A1A1A"/>
                </a:solidFill>
                <a:ea typeface="+mn-lt"/>
                <a:cs typeface="+mn-lt"/>
              </a:rPr>
              <a:t>Finalization of business requirements planned to be completed in Sprint 2</a:t>
            </a:r>
            <a:endParaRPr lang="en-US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3C4727-D06F-D413-0774-DCC56AB4D851}"/>
              </a:ext>
            </a:extLst>
          </p:cNvPr>
          <p:cNvSpPr txBox="1"/>
          <p:nvPr/>
        </p:nvSpPr>
        <p:spPr>
          <a:xfrm>
            <a:off x="301752" y="6400800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29-Garage (RMIT)  |  AI Assistant for HR  |  Sprint 1 Playback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996570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92B85-A84D-B52D-B89F-0D37FD9C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7649"/>
            <a:ext cx="9830017" cy="73152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Allocation &amp; Time Spent</a:t>
            </a:r>
            <a:br>
              <a:rPr lang="en-US"/>
            </a:br>
            <a:br>
              <a:rPr lang="en-US"/>
            </a:br>
            <a:r>
              <a:rPr lang="en-US" sz="2000" kern="0" spc="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DIRECTION</a:t>
            </a:r>
            <a:br>
              <a:rPr lang="en-US"/>
            </a:b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43C56-BFB8-FD6C-F562-D544434B8A43}"/>
              </a:ext>
            </a:extLst>
          </p:cNvPr>
          <p:cNvSpPr txBox="1"/>
          <p:nvPr/>
        </p:nvSpPr>
        <p:spPr>
          <a:xfrm>
            <a:off x="4484292" y="1912049"/>
            <a:ext cx="3010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highlight>
                  <a:srgbClr val="8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Full Sprint 1 total (Weeks 1-3)</a:t>
            </a:r>
            <a:endParaRPr lang="en-US"/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0BA9048C-370E-4FA9-0FA8-A26FE6E45749}"/>
              </a:ext>
            </a:extLst>
          </p:cNvPr>
          <p:cNvSpPr/>
          <p:nvPr/>
        </p:nvSpPr>
        <p:spPr>
          <a:xfrm>
            <a:off x="548640" y="242316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FEE2A06F-D8EA-1324-B4DE-AE755AD7BA23}"/>
              </a:ext>
            </a:extLst>
          </p:cNvPr>
          <p:cNvSpPr/>
          <p:nvPr/>
        </p:nvSpPr>
        <p:spPr>
          <a:xfrm>
            <a:off x="640080" y="24231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(Nawres)</a:t>
            </a:r>
            <a:endParaRPr lang="en-US" sz="1050"/>
          </a:p>
        </p:txBody>
      </p:sp>
      <p:sp>
        <p:nvSpPr>
          <p:cNvPr id="10" name="Shape 17">
            <a:extLst>
              <a:ext uri="{FF2B5EF4-FFF2-40B4-BE49-F238E27FC236}">
                <a16:creationId xmlns:a16="http://schemas.microsoft.com/office/drawing/2014/main" id="{EC4C4516-A13B-1324-3DDB-EED079EBFD49}"/>
              </a:ext>
            </a:extLst>
          </p:cNvPr>
          <p:cNvSpPr/>
          <p:nvPr/>
        </p:nvSpPr>
        <p:spPr>
          <a:xfrm>
            <a:off x="2468880" y="2423160"/>
            <a:ext cx="70408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CF7A7067-C53A-7D61-616C-51835E397EE1}"/>
              </a:ext>
            </a:extLst>
          </p:cNvPr>
          <p:cNvSpPr/>
          <p:nvPr/>
        </p:nvSpPr>
        <p:spPr>
          <a:xfrm>
            <a:off x="2560320" y="24231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research + shortlist + task coordination + Playback deck + Sprint 2 plan</a:t>
            </a:r>
            <a:endParaRPr lang="en-US" sz="1050"/>
          </a:p>
        </p:txBody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12342286-81A9-0BBF-1B25-FAD0AFC46E05}"/>
              </a:ext>
            </a:extLst>
          </p:cNvPr>
          <p:cNvSpPr/>
          <p:nvPr/>
        </p:nvSpPr>
        <p:spPr>
          <a:xfrm>
            <a:off x="9509760" y="2423160"/>
            <a:ext cx="1371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BAFA7A8C-C904-F5BC-A670-A434320F9B7D}"/>
              </a:ext>
            </a:extLst>
          </p:cNvPr>
          <p:cNvSpPr/>
          <p:nvPr/>
        </p:nvSpPr>
        <p:spPr>
          <a:xfrm>
            <a:off x="9601200" y="2423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hrs</a:t>
            </a:r>
            <a:endParaRPr lang="en-US" sz="105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0AB15648-AF43-0225-C263-857C0D86399E}"/>
              </a:ext>
            </a:extLst>
          </p:cNvPr>
          <p:cNvSpPr/>
          <p:nvPr/>
        </p:nvSpPr>
        <p:spPr>
          <a:xfrm>
            <a:off x="548640" y="3108960"/>
            <a:ext cx="1920240" cy="685800"/>
          </a:xfrm>
          <a:prstGeom prst="rect">
            <a:avLst/>
          </a:prstGeom>
          <a:solidFill>
            <a:srgbClr val="F4F6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37E23BEF-6C37-F5C7-C425-D56F90A80FBC}"/>
              </a:ext>
            </a:extLst>
          </p:cNvPr>
          <p:cNvSpPr/>
          <p:nvPr/>
        </p:nvSpPr>
        <p:spPr>
          <a:xfrm>
            <a:off x="640080" y="3108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1 (Minh)</a:t>
            </a:r>
            <a:endParaRPr lang="en-US" sz="1050"/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846189A2-1CEF-0890-A73B-E5FBEEBE98EB}"/>
              </a:ext>
            </a:extLst>
          </p:cNvPr>
          <p:cNvSpPr/>
          <p:nvPr/>
        </p:nvSpPr>
        <p:spPr>
          <a:xfrm>
            <a:off x="2468880" y="3108960"/>
            <a:ext cx="7040880" cy="685800"/>
          </a:xfrm>
          <a:prstGeom prst="rect">
            <a:avLst/>
          </a:prstGeom>
          <a:solidFill>
            <a:srgbClr val="F4F6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FD1C4877-AC87-C8CA-401A-E390E659A312}"/>
              </a:ext>
            </a:extLst>
          </p:cNvPr>
          <p:cNvSpPr/>
          <p:nvPr/>
        </p:nvSpPr>
        <p:spPr>
          <a:xfrm>
            <a:off x="2560320" y="31089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tech research (Wk2) + AI knowledge retrieval technical approach (Wk3)</a:t>
            </a:r>
            <a:endParaRPr lang="en-US" sz="1050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C9B27A74-EB8D-E34B-F90B-749F1BBA4739}"/>
              </a:ext>
            </a:extLst>
          </p:cNvPr>
          <p:cNvSpPr/>
          <p:nvPr/>
        </p:nvSpPr>
        <p:spPr>
          <a:xfrm>
            <a:off x="9509760" y="3108960"/>
            <a:ext cx="1371600" cy="685800"/>
          </a:xfrm>
          <a:prstGeom prst="rect">
            <a:avLst/>
          </a:prstGeom>
          <a:solidFill>
            <a:srgbClr val="F4F6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D49E51B-07F8-4E89-5B27-E04E1C421E9E}"/>
              </a:ext>
            </a:extLst>
          </p:cNvPr>
          <p:cNvSpPr/>
          <p:nvPr/>
        </p:nvSpPr>
        <p:spPr>
          <a:xfrm>
            <a:off x="9601200" y="31089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hrs</a:t>
            </a:r>
            <a:endParaRPr lang="en-US" sz="10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378B1E68-6909-184A-A39F-585F1647F371}"/>
              </a:ext>
            </a:extLst>
          </p:cNvPr>
          <p:cNvSpPr/>
          <p:nvPr/>
        </p:nvSpPr>
        <p:spPr>
          <a:xfrm>
            <a:off x="548640" y="379476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8CE3863F-6192-E0D6-E698-543F5FEE0080}"/>
              </a:ext>
            </a:extLst>
          </p:cNvPr>
          <p:cNvSpPr/>
          <p:nvPr/>
        </p:nvSpPr>
        <p:spPr>
          <a:xfrm>
            <a:off x="640080" y="37947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2 (Nihal)</a:t>
            </a:r>
            <a:endParaRPr lang="en-US" sz="105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E5495150-0D9C-0831-1A20-20FA622DD223}"/>
              </a:ext>
            </a:extLst>
          </p:cNvPr>
          <p:cNvSpPr/>
          <p:nvPr/>
        </p:nvSpPr>
        <p:spPr>
          <a:xfrm>
            <a:off x="2468880" y="3794760"/>
            <a:ext cx="70408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9DD014F7-95F7-965A-8981-2B73B5827A92}"/>
              </a:ext>
            </a:extLst>
          </p:cNvPr>
          <p:cNvSpPr/>
          <p:nvPr/>
        </p:nvSpPr>
        <p:spPr>
          <a:xfrm>
            <a:off x="2560320" y="37947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 classification research (Wk2) + escalation/fallback technical approach (Wk3)</a:t>
            </a:r>
            <a:endParaRPr lang="en-US" sz="1050"/>
          </a:p>
        </p:txBody>
      </p:sp>
      <p:sp>
        <p:nvSpPr>
          <p:cNvPr id="38" name="Shape 31">
            <a:extLst>
              <a:ext uri="{FF2B5EF4-FFF2-40B4-BE49-F238E27FC236}">
                <a16:creationId xmlns:a16="http://schemas.microsoft.com/office/drawing/2014/main" id="{BDFADCC7-D4A7-C544-B8BC-628B8752E83F}"/>
              </a:ext>
            </a:extLst>
          </p:cNvPr>
          <p:cNvSpPr/>
          <p:nvPr/>
        </p:nvSpPr>
        <p:spPr>
          <a:xfrm>
            <a:off x="9509760" y="3794760"/>
            <a:ext cx="1371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2929FCB8-87AA-4906-A90F-BDB2C68853D1}"/>
              </a:ext>
            </a:extLst>
          </p:cNvPr>
          <p:cNvSpPr/>
          <p:nvPr/>
        </p:nvSpPr>
        <p:spPr>
          <a:xfrm>
            <a:off x="9601200" y="3794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hrs</a:t>
            </a:r>
            <a:endParaRPr lang="en-US" sz="105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C78505A2-E5E5-7016-5013-C8411653EBE9}"/>
              </a:ext>
            </a:extLst>
          </p:cNvPr>
          <p:cNvSpPr/>
          <p:nvPr/>
        </p:nvSpPr>
        <p:spPr>
          <a:xfrm>
            <a:off x="548640" y="4480560"/>
            <a:ext cx="1920240" cy="685800"/>
          </a:xfrm>
          <a:prstGeom prst="rect">
            <a:avLst/>
          </a:prstGeom>
          <a:solidFill>
            <a:srgbClr val="F4F6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FAF50FEA-9B81-27A2-7FD6-331BE01200C1}"/>
              </a:ext>
            </a:extLst>
          </p:cNvPr>
          <p:cNvSpPr/>
          <p:nvPr/>
        </p:nvSpPr>
        <p:spPr>
          <a:xfrm>
            <a:off x="640080" y="4480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(Arman)</a:t>
            </a:r>
            <a:endParaRPr lang="en-US" sz="105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5EB9C143-8E3C-EE1C-3901-3D350EC482BD}"/>
              </a:ext>
            </a:extLst>
          </p:cNvPr>
          <p:cNvSpPr/>
          <p:nvPr/>
        </p:nvSpPr>
        <p:spPr>
          <a:xfrm>
            <a:off x="2468880" y="4480560"/>
            <a:ext cx="7040880" cy="685800"/>
          </a:xfrm>
          <a:prstGeom prst="rect">
            <a:avLst/>
          </a:prstGeom>
          <a:solidFill>
            <a:srgbClr val="F4F6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262BF58D-EE60-D2EF-BD7D-2C17D3EDE8DA}"/>
              </a:ext>
            </a:extLst>
          </p:cNvPr>
          <p:cNvSpPr/>
          <p:nvPr/>
        </p:nvSpPr>
        <p:spPr>
          <a:xfrm>
            <a:off x="2560320" y="44805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for both use cases (Wk2) + finalised Onboarding UX design (Wk3)</a:t>
            </a:r>
            <a:endParaRPr lang="en-US" sz="1050"/>
          </a:p>
        </p:txBody>
      </p:sp>
      <p:sp>
        <p:nvSpPr>
          <p:cNvPr id="50" name="Shape 37">
            <a:extLst>
              <a:ext uri="{FF2B5EF4-FFF2-40B4-BE49-F238E27FC236}">
                <a16:creationId xmlns:a16="http://schemas.microsoft.com/office/drawing/2014/main" id="{FC78D731-C6E4-36AE-53D1-147A0024230E}"/>
              </a:ext>
            </a:extLst>
          </p:cNvPr>
          <p:cNvSpPr/>
          <p:nvPr/>
        </p:nvSpPr>
        <p:spPr>
          <a:xfrm>
            <a:off x="9509760" y="4480560"/>
            <a:ext cx="1371600" cy="685800"/>
          </a:xfrm>
          <a:prstGeom prst="rect">
            <a:avLst/>
          </a:prstGeom>
          <a:solidFill>
            <a:srgbClr val="F4F6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38">
            <a:extLst>
              <a:ext uri="{FF2B5EF4-FFF2-40B4-BE49-F238E27FC236}">
                <a16:creationId xmlns:a16="http://schemas.microsoft.com/office/drawing/2014/main" id="{80C561A4-6B3A-30DC-888E-D2A36A7471DD}"/>
              </a:ext>
            </a:extLst>
          </p:cNvPr>
          <p:cNvSpPr/>
          <p:nvPr/>
        </p:nvSpPr>
        <p:spPr>
          <a:xfrm>
            <a:off x="9601200" y="44805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hrs</a:t>
            </a:r>
            <a:endParaRPr lang="en-US" sz="1050"/>
          </a:p>
        </p:txBody>
      </p:sp>
      <p:sp>
        <p:nvSpPr>
          <p:cNvPr id="54" name="Shape 39">
            <a:extLst>
              <a:ext uri="{FF2B5EF4-FFF2-40B4-BE49-F238E27FC236}">
                <a16:creationId xmlns:a16="http://schemas.microsoft.com/office/drawing/2014/main" id="{2DBFEF1B-015A-902E-6F5A-4E6680E91948}"/>
              </a:ext>
            </a:extLst>
          </p:cNvPr>
          <p:cNvSpPr/>
          <p:nvPr/>
        </p:nvSpPr>
        <p:spPr>
          <a:xfrm>
            <a:off x="548640" y="516636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0">
            <a:extLst>
              <a:ext uri="{FF2B5EF4-FFF2-40B4-BE49-F238E27FC236}">
                <a16:creationId xmlns:a16="http://schemas.microsoft.com/office/drawing/2014/main" id="{505D04F1-61B6-D7C1-3BEB-A47F1C5E55F0}"/>
              </a:ext>
            </a:extLst>
          </p:cNvPr>
          <p:cNvSpPr/>
          <p:nvPr/>
        </p:nvSpPr>
        <p:spPr>
          <a:xfrm>
            <a:off x="640080" y="5166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(Scarlett)</a:t>
            </a:r>
            <a:endParaRPr lang="en-US" sz="1050"/>
          </a:p>
        </p:txBody>
      </p:sp>
      <p:sp>
        <p:nvSpPr>
          <p:cNvPr id="58" name="Shape 41">
            <a:extLst>
              <a:ext uri="{FF2B5EF4-FFF2-40B4-BE49-F238E27FC236}">
                <a16:creationId xmlns:a16="http://schemas.microsoft.com/office/drawing/2014/main" id="{1136BD8B-61B4-B3F5-8971-69AA449CDEF6}"/>
              </a:ext>
            </a:extLst>
          </p:cNvPr>
          <p:cNvSpPr/>
          <p:nvPr/>
        </p:nvSpPr>
        <p:spPr>
          <a:xfrm>
            <a:off x="2468880" y="5166360"/>
            <a:ext cx="70408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2">
            <a:extLst>
              <a:ext uri="{FF2B5EF4-FFF2-40B4-BE49-F238E27FC236}">
                <a16:creationId xmlns:a16="http://schemas.microsoft.com/office/drawing/2014/main" id="{FE4C88CF-F422-E242-3FE1-61F69AA4A30A}"/>
              </a:ext>
            </a:extLst>
          </p:cNvPr>
          <p:cNvSpPr/>
          <p:nvPr/>
        </p:nvSpPr>
        <p:spPr>
          <a:xfrm>
            <a:off x="2560320" y="51663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+ validation (Wk2) + finalised Core MVP requirements (Wk3)</a:t>
            </a:r>
            <a:endParaRPr lang="en-US" sz="1050"/>
          </a:p>
        </p:txBody>
      </p:sp>
      <p:sp>
        <p:nvSpPr>
          <p:cNvPr id="62" name="Shape 43">
            <a:extLst>
              <a:ext uri="{FF2B5EF4-FFF2-40B4-BE49-F238E27FC236}">
                <a16:creationId xmlns:a16="http://schemas.microsoft.com/office/drawing/2014/main" id="{BF72732D-5453-B2A9-4135-33BF224221DA}"/>
              </a:ext>
            </a:extLst>
          </p:cNvPr>
          <p:cNvSpPr/>
          <p:nvPr/>
        </p:nvSpPr>
        <p:spPr>
          <a:xfrm>
            <a:off x="9509760" y="5166360"/>
            <a:ext cx="1371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44">
            <a:extLst>
              <a:ext uri="{FF2B5EF4-FFF2-40B4-BE49-F238E27FC236}">
                <a16:creationId xmlns:a16="http://schemas.microsoft.com/office/drawing/2014/main" id="{749737C0-01D4-684D-FB96-5F8315B1BC5F}"/>
              </a:ext>
            </a:extLst>
          </p:cNvPr>
          <p:cNvSpPr/>
          <p:nvPr/>
        </p:nvSpPr>
        <p:spPr>
          <a:xfrm>
            <a:off x="9601200" y="51663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hrs</a:t>
            </a:r>
            <a:endParaRPr lang="en-US" sz="10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059954-DB59-6918-E060-B2C12D44C7E7}"/>
              </a:ext>
            </a:extLst>
          </p:cNvPr>
          <p:cNvSpPr txBox="1"/>
          <p:nvPr/>
        </p:nvSpPr>
        <p:spPr>
          <a:xfrm>
            <a:off x="301752" y="6400800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29-Garage (RMIT)  |  AI Assistant for HR  |  Sprint 1 Playback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13112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0648-D244-E0EA-102C-E384BA81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Next Steps</a:t>
            </a:r>
            <a:br>
              <a:rPr lang="en-US"/>
            </a:br>
            <a:r>
              <a:rPr lang="en-US" sz="1800" kern="0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DIRECTION</a:t>
            </a:r>
            <a:br>
              <a:rPr lang="en-US"/>
            </a:br>
            <a:endParaRPr lang="en-US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5E433E5D-CB94-B206-B11E-2F3FC838C560}"/>
              </a:ext>
            </a:extLst>
          </p:cNvPr>
          <p:cNvSpPr/>
          <p:nvPr/>
        </p:nvSpPr>
        <p:spPr>
          <a:xfrm>
            <a:off x="1688508" y="2193308"/>
            <a:ext cx="51206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ADCFC"/>
                </a:solidFill>
                <a:latin typeface="Cambria"/>
                <a:ea typeface="Cambria"/>
                <a:cs typeface="Cambria" pitchFamily="34" charset="-120"/>
              </a:rPr>
              <a:t>TIMELINE </a:t>
            </a:r>
            <a:endParaRPr lang="en-US" sz="2400">
              <a:latin typeface="Arial Nova Light"/>
              <a:ea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EBF7B-7CB9-BA99-C312-74F5DADD64AB}"/>
              </a:ext>
            </a:extLst>
          </p:cNvPr>
          <p:cNvSpPr txBox="1"/>
          <p:nvPr/>
        </p:nvSpPr>
        <p:spPr>
          <a:xfrm>
            <a:off x="8277548" y="2167247"/>
            <a:ext cx="217639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CADCFC"/>
                </a:solidFill>
                <a:latin typeface="Cambria"/>
                <a:ea typeface="Cambria"/>
                <a:cs typeface="Cambria" pitchFamily="34" charset="-120"/>
              </a:rPr>
              <a:t>WHAT'S NEXT </a:t>
            </a:r>
            <a:endParaRPr lang="en-US" sz="2000">
              <a:latin typeface="Arial Nova Light"/>
              <a:ea typeface="Cambria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07A7140-2742-C6A1-4328-B30A846C8C70}"/>
              </a:ext>
            </a:extLst>
          </p:cNvPr>
          <p:cNvSpPr/>
          <p:nvPr/>
        </p:nvSpPr>
        <p:spPr>
          <a:xfrm>
            <a:off x="588111" y="2193308"/>
            <a:ext cx="5120640" cy="320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meeting: confirmed Employee Onboarding as Core MVP</a:t>
            </a:r>
            <a:endParaRPr lang="en-US" sz="2000">
              <a:latin typeface="Arial Nova Light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Sprint 1 Week 3 planning session</a:t>
            </a:r>
            <a:endParaRPr lang="en-US" sz="2000">
              <a:latin typeface="Arial Nova Light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Thursday: full team rehearsal</a:t>
            </a:r>
            <a:endParaRPr lang="en-US" sz="2000">
              <a:latin typeface="Arial Nova Light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Today (Fri 11 Sept): Sprint 1 Playback</a:t>
            </a:r>
            <a:endParaRPr lang="en-US" sz="2000">
              <a:latin typeface="Arial Nova Light"/>
              <a:ea typeface="Calibri"/>
              <a:cs typeface="Calibri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713151CB-642B-3D17-D5D4-34F39E48FC9E}"/>
              </a:ext>
            </a:extLst>
          </p:cNvPr>
          <p:cNvSpPr/>
          <p:nvPr/>
        </p:nvSpPr>
        <p:spPr>
          <a:xfrm>
            <a:off x="6809148" y="2405179"/>
            <a:ext cx="512064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Sprint 2 begins by </a:t>
            </a:r>
            <a:r>
              <a:rPr lang="en-US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finalising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detailed acceptance criteria (Week 1), then building the Employee Onboarding Assistant directly on our validated design and technical approach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D1B383-F8A9-F875-CBA7-58702B548654}"/>
              </a:ext>
            </a:extLst>
          </p:cNvPr>
          <p:cNvSpPr txBox="1"/>
          <p:nvPr/>
        </p:nvSpPr>
        <p:spPr>
          <a:xfrm>
            <a:off x="301752" y="6400800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29-Garage (RMIT)  |  AI Assistant for HR  |  Sprint 1 Playback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39555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BBAA61C-299C-B767-AECE-FFB5D41A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69726"/>
            <a:ext cx="9830017" cy="996602"/>
          </a:xfrm>
          <a:prstGeom prst="rect">
            <a:avLst/>
          </a:prstGeom>
          <a:solidFill>
            <a:srgbClr val="1E2761"/>
          </a:solidFill>
          <a:ln/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Scarlett Heng</a:t>
            </a:r>
            <a:br>
              <a:rPr lang="en-US"/>
            </a:br>
            <a:r>
              <a:rPr lang="en-US" sz="1300" kern="0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 ·  TEAM CONTRIBUTION  ·  1 MINUTE</a:t>
            </a:r>
            <a:br>
              <a:rPr lang="en-US"/>
            </a:br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77F5D4E-F050-46CF-0E3F-53FD7E3B442F}"/>
              </a:ext>
            </a:extLst>
          </p:cNvPr>
          <p:cNvSpPr/>
          <p:nvPr/>
        </p:nvSpPr>
        <p:spPr>
          <a:xfrm>
            <a:off x="548640" y="1737360"/>
            <a:ext cx="9830017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 lIns="91440" tIns="45720" rIns="91440" bIns="45720"/>
          <a:lstStyle/>
          <a:p>
            <a:r>
              <a:rPr lang="en-US" b="1" kern="0" spc="10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CONTRIBUTED THIS SPRINT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Researched &amp; defined requirements for the HR AI Assistant 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Documented MVP scope, functional reequipments, AC, edge cases and human escalation 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Refined requirement after Employe Onboarding was selected as the core use case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Validated the UX prototype against the requirements </a:t>
            </a:r>
          </a:p>
          <a:p>
            <a:pPr marL="285750" indent="-285750">
              <a:buFont typeface="Calibri"/>
              <a:buChar char="-"/>
            </a:pPr>
            <a:endParaRPr lang="en-US" sz="140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D8D4726-28F4-5D41-F9CA-8A6D338A2E96}"/>
              </a:ext>
            </a:extLst>
          </p:cNvPr>
          <p:cNvSpPr/>
          <p:nvPr/>
        </p:nvSpPr>
        <p:spPr>
          <a:xfrm>
            <a:off x="548640" y="4023360"/>
            <a:ext cx="9830017" cy="1737360"/>
          </a:xfrm>
          <a:prstGeom prst="roundRect">
            <a:avLst>
              <a:gd name="adj" fmla="val 5263"/>
            </a:avLst>
          </a:prstGeom>
          <a:solidFill>
            <a:srgbClr val="FAF2F2"/>
          </a:solidFill>
          <a:ln w="12700">
            <a:solidFill>
              <a:srgbClr val="E8C9CC"/>
            </a:solidFill>
            <a:prstDash val="solid"/>
          </a:ln>
        </p:spPr>
        <p:txBody>
          <a:bodyPr lIns="91440" tIns="45720" rIns="91440" bIns="45720"/>
          <a:lstStyle/>
          <a:p>
            <a:r>
              <a:rPr lang="en-US" b="1" kern="0" spc="10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HONEST BLOCKER / LEARNING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Limited document about this topic or ideas what we need to do 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Document need to clear and testable rather than guessing  </a:t>
            </a:r>
          </a:p>
        </p:txBody>
      </p:sp>
    </p:spTree>
    <p:extLst>
      <p:ext uri="{BB962C8B-B14F-4D97-AF65-F5344CB8AC3E}">
        <p14:creationId xmlns:p14="http://schemas.microsoft.com/office/powerpoint/2010/main" val="2726933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EA9A9-2AE2-69AE-D41D-139F1A04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E4CDA08-9C47-D72E-12A2-6B37A7CD0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69726"/>
            <a:ext cx="9830017" cy="996602"/>
          </a:xfrm>
          <a:prstGeom prst="rect">
            <a:avLst/>
          </a:prstGeom>
          <a:solidFill>
            <a:srgbClr val="1E2761"/>
          </a:solidFill>
          <a:ln/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Arman Gholami</a:t>
            </a:r>
            <a:br>
              <a:rPr lang="en-US"/>
            </a:br>
            <a:r>
              <a:rPr lang="en-US" sz="1300" kern="0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 ·  TEAM CONTRIBUTION  ·  1 MINUTE</a:t>
            </a:r>
            <a:br>
              <a:rPr lang="en-US"/>
            </a:br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D58FC94-6CA6-BF9F-E8D5-B8296BAFB673}"/>
              </a:ext>
            </a:extLst>
          </p:cNvPr>
          <p:cNvSpPr/>
          <p:nvPr/>
        </p:nvSpPr>
        <p:spPr>
          <a:xfrm>
            <a:off x="548640" y="1737360"/>
            <a:ext cx="9830017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b="1" kern="0" spc="10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CONTRIBUTED THIS SPRINT</a:t>
            </a:r>
          </a:p>
          <a:p>
            <a:pPr marL="285750" indent="-285750">
              <a:buFont typeface="Arial"/>
              <a:buChar char="•"/>
            </a:pPr>
            <a:endParaRPr lang="en-US" sz="140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Individual research on a use case for AI in HR (HR Policy Questions)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Low-Fidelity Prototypes based on the two shortlisted use cases 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Demonstrated the user’s journey through the different scenarios.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Design/Styling yet to be finalized, but will be done by the end of the week.</a:t>
            </a:r>
          </a:p>
          <a:p>
            <a:endParaRPr lang="en-US" sz="140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FFFFFF"/>
              </a:solidFill>
              <a:latin typeface="Arial Nova Light"/>
              <a:ea typeface="Calibri"/>
              <a:cs typeface="Calibri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9C684A9-44F0-729F-34BD-7B2B2B1BB0FD}"/>
              </a:ext>
            </a:extLst>
          </p:cNvPr>
          <p:cNvSpPr/>
          <p:nvPr/>
        </p:nvSpPr>
        <p:spPr>
          <a:xfrm>
            <a:off x="548640" y="4023360"/>
            <a:ext cx="9830017" cy="1602889"/>
          </a:xfrm>
          <a:prstGeom prst="roundRect">
            <a:avLst>
              <a:gd name="adj" fmla="val 5263"/>
            </a:avLst>
          </a:prstGeom>
          <a:solidFill>
            <a:srgbClr val="FAF2F2"/>
          </a:solidFill>
          <a:ln w="12700">
            <a:solidFill>
              <a:srgbClr val="E8C9C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b="1" kern="0" spc="10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HONEST BLOCKER / LEARNING</a:t>
            </a:r>
          </a:p>
          <a:p>
            <a:pPr marL="285750" indent="-285750">
              <a:buFont typeface="Arial"/>
              <a:buChar char="•"/>
            </a:pPr>
            <a:endParaRPr lang="en-US" sz="140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Unwell during week 2, poor time management.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Underestimated how much it pushed my work back (breaks, rest)</a:t>
            </a: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was overdue</a:t>
            </a:r>
            <a:endParaRPr lang="en-US" sz="14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More time allocation needed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FFFFFF"/>
              </a:solidFill>
              <a:latin typeface="Arial Nova Light"/>
              <a:ea typeface="Calibri"/>
              <a:cs typeface="Calibri"/>
            </a:endParaRPr>
          </a:p>
          <a:p>
            <a:endParaRPr lang="en-US">
              <a:solidFill>
                <a:srgbClr val="FFFFFF"/>
              </a:solidFill>
              <a:latin typeface="Arial Nova 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069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E4888-DB71-3220-E57B-825BC83A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C1FCC10F-BF36-5750-0B44-684341494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69726"/>
            <a:ext cx="9830017" cy="996602"/>
          </a:xfrm>
          <a:prstGeom prst="rect">
            <a:avLst/>
          </a:prstGeom>
          <a:solidFill>
            <a:srgbClr val="1E2761"/>
          </a:solidFill>
          <a:ln/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Minh Quang Tran</a:t>
            </a:r>
            <a:br>
              <a:rPr lang="en-US"/>
            </a:br>
            <a:r>
              <a:rPr lang="en-US" sz="1300" kern="0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 ·  TEAM CONTRIBUTION  ·  1 MINUTE</a:t>
            </a:r>
            <a:br>
              <a:rPr lang="en-US"/>
            </a:br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00AD2B81-9CD2-4D9C-B158-56F637EC6902}"/>
              </a:ext>
            </a:extLst>
          </p:cNvPr>
          <p:cNvSpPr/>
          <p:nvPr/>
        </p:nvSpPr>
        <p:spPr>
          <a:xfrm>
            <a:off x="548640" y="1727200"/>
            <a:ext cx="6167120" cy="209296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b="1" kern="0" spc="100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WHAT I CONTRIBUTED THIS SPRINT</a:t>
            </a:r>
          </a:p>
          <a:p>
            <a:endParaRPr lang="en-US"/>
          </a:p>
          <a:p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Researched HR Service Requests in Week 1, recommended the Onboarding technical stack in Week 2, and this week ran hands-on checks confirming the retrieval and LLM connection actually work,  not just planned on paper.</a:t>
            </a:r>
            <a:endParaRPr lang="en-US" sz="1400">
              <a:latin typeface="Calibri"/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24C1936-15D4-637C-D421-4EEDB221EB04}"/>
              </a:ext>
            </a:extLst>
          </p:cNvPr>
          <p:cNvSpPr/>
          <p:nvPr/>
        </p:nvSpPr>
        <p:spPr>
          <a:xfrm>
            <a:off x="548640" y="4023360"/>
            <a:ext cx="6187440" cy="1737360"/>
          </a:xfrm>
          <a:prstGeom prst="roundRect">
            <a:avLst>
              <a:gd name="adj" fmla="val 5263"/>
            </a:avLst>
          </a:prstGeom>
          <a:solidFill>
            <a:srgbClr val="FAF2F2"/>
          </a:solidFill>
          <a:ln w="12700">
            <a:solidFill>
              <a:srgbClr val="E8C9C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b="1" kern="0" spc="100">
                <a:solidFill>
                  <a:srgbClr val="8B2635"/>
                </a:solidFill>
                <a:latin typeface="Cambria"/>
                <a:ea typeface="Cambria"/>
                <a:cs typeface="Cambria" pitchFamily="34" charset="-120"/>
              </a:rPr>
              <a:t>ONE HONEST BLOCKER / LEARNING</a:t>
            </a:r>
          </a:p>
          <a:p>
            <a:endParaRPr lang="en-US" sz="1400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Overthought the task requirements</a:t>
            </a:r>
            <a:endParaRPr lang="en-US" sz="14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found it hard to document my findings clearly</a:t>
            </a:r>
            <a:endParaRPr lang="en-US" sz="14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 When that happened, I'd check a teammate's work or ask the PM directly rather than stay stuck guessing alone.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pic>
        <p:nvPicPr>
          <p:cNvPr id="101" name="Week1 Proof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616" y="1737360"/>
            <a:ext cx="1883664" cy="1737360"/>
          </a:xfrm>
          <a:prstGeom prst="rect">
            <a:avLst/>
          </a:prstGeom>
          <a:ln w="9525">
            <a:solidFill>
              <a:srgbClr val="CADCFC"/>
            </a:solidFill>
          </a:ln>
        </p:spPr>
      </p:pic>
      <p:sp>
        <p:nvSpPr>
          <p:cNvPr id="102" name="Week1 Caption"/>
          <p:cNvSpPr txBox="1"/>
          <p:nvPr/>
        </p:nvSpPr>
        <p:spPr>
          <a:xfrm>
            <a:off x="6492240" y="3474720"/>
            <a:ext cx="3886417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000" i="1">
                <a:solidFill>
                  <a:srgbClr val="70768A"/>
                </a:solidFill>
                <a:latin typeface="Calibri" pitchFamily="34" charset="0"/>
              </a:rPr>
              <a:t>Week 1 evidence — HR Service Request flow</a:t>
            </a:r>
          </a:p>
        </p:txBody>
      </p:sp>
      <p:pic>
        <p:nvPicPr>
          <p:cNvPr id="103" name="Week2 Proof 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1856" y="3813048"/>
            <a:ext cx="2867184" cy="1737360"/>
          </a:xfrm>
          <a:prstGeom prst="rect">
            <a:avLst/>
          </a:prstGeom>
          <a:ln w="9525">
            <a:solidFill>
              <a:srgbClr val="CADCFC"/>
            </a:solidFill>
          </a:ln>
        </p:spPr>
      </p:pic>
      <p:sp>
        <p:nvSpPr>
          <p:cNvPr id="104" name="Week2 Caption"/>
          <p:cNvSpPr txBox="1"/>
          <p:nvPr/>
        </p:nvSpPr>
        <p:spPr>
          <a:xfrm>
            <a:off x="6492240" y="5550408"/>
            <a:ext cx="3886417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000" i="1">
                <a:solidFill>
                  <a:srgbClr val="70768A"/>
                </a:solidFill>
                <a:latin typeface="Calibri" pitchFamily="34" charset="0"/>
              </a:rPr>
              <a:t>Week 2 evidence — Onboarding FAQ / checklist flow</a:t>
            </a:r>
          </a:p>
        </p:txBody>
      </p:sp>
    </p:spTree>
    <p:extLst>
      <p:ext uri="{BB962C8B-B14F-4D97-AF65-F5344CB8AC3E}">
        <p14:creationId xmlns:p14="http://schemas.microsoft.com/office/powerpoint/2010/main" val="700264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9861D-BD95-FBA8-D953-749751C4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10857BD7-BD5B-46C4-FF80-83FB73506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69726"/>
            <a:ext cx="9830017" cy="996602"/>
          </a:xfrm>
          <a:prstGeom prst="rect">
            <a:avLst/>
          </a:prstGeom>
          <a:solidFill>
            <a:srgbClr val="1E2761"/>
          </a:solidFill>
          <a:ln/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Nihal Reddy Gaddam</a:t>
            </a:r>
            <a:br>
              <a:rPr lang="en-US"/>
            </a:br>
            <a:r>
              <a:rPr lang="en-US" sz="1300" kern="0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 ·  TEAM CONTRIBUTION  ·  1 MINUTE</a:t>
            </a:r>
            <a:br>
              <a:rPr lang="en-US"/>
            </a:br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A704059-4C97-66DF-4BE2-CFC2448C1B05}"/>
              </a:ext>
            </a:extLst>
          </p:cNvPr>
          <p:cNvSpPr/>
          <p:nvPr/>
        </p:nvSpPr>
        <p:spPr>
          <a:xfrm>
            <a:off x="548640" y="1737360"/>
            <a:ext cx="9830017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b="1" kern="0" spc="100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WHAT I CONTRIBUTED THIS SPRINT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Week 1: Researched AI Interview Note-Taking and mapped the current vs AI-assisted process. 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Week 2: Researched HR Service Request classification and routing approaches. 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This week: Working on Employee Onboarding escalation and fallback </a:t>
            </a:r>
            <a:r>
              <a:rPr lang="en-US" sz="14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behaviour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Coordinating the technical flow with Arman’s UX states</a:t>
            </a:r>
          </a:p>
          <a:p>
            <a:endParaRPr lang="en-US">
              <a:solidFill>
                <a:schemeClr val="bg1"/>
              </a:solidFill>
              <a:latin typeface="Arial Nova Light"/>
              <a:ea typeface="Calibri"/>
              <a:cs typeface="Calibri"/>
            </a:endParaRPr>
          </a:p>
          <a:p>
            <a:endParaRPr lang="en-US">
              <a:solidFill>
                <a:schemeClr val="bg1"/>
              </a:solidFill>
              <a:latin typeface="Arial Nova Light"/>
              <a:ea typeface="Calibri"/>
              <a:cs typeface="Calibri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43B2763-72BB-E032-CABF-5B18483BC180}"/>
              </a:ext>
            </a:extLst>
          </p:cNvPr>
          <p:cNvSpPr/>
          <p:nvPr/>
        </p:nvSpPr>
        <p:spPr>
          <a:xfrm>
            <a:off x="548640" y="4023360"/>
            <a:ext cx="9830017" cy="1737360"/>
          </a:xfrm>
          <a:prstGeom prst="roundRect">
            <a:avLst>
              <a:gd name="adj" fmla="val 5263"/>
            </a:avLst>
          </a:prstGeom>
          <a:solidFill>
            <a:srgbClr val="FAF2F2"/>
          </a:solidFill>
          <a:ln w="12700">
            <a:solidFill>
              <a:srgbClr val="E8C9C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b="1" kern="0" spc="100">
                <a:solidFill>
                  <a:srgbClr val="8B2635"/>
                </a:solidFill>
                <a:latin typeface="Cambria"/>
                <a:ea typeface="Cambria"/>
                <a:cs typeface="Cambria" pitchFamily="34" charset="-120"/>
              </a:rPr>
              <a:t>ONE HONEST BLOCKER / LEARNING</a:t>
            </a:r>
          </a:p>
          <a:p>
            <a:endParaRPr lang="en-US" b="1" kern="0" spc="100">
              <a:solidFill>
                <a:srgbClr val="8B2635"/>
              </a:solidFill>
              <a:latin typeface="Cambria"/>
              <a:ea typeface="Cambria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Too many possible tools and technical approaches at first 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Narrowed the options based on what was realistic for the MVP 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Learned to base technical decisions on project needs, not just tool features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28853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B022E3FFE7534CAF83618C1EF3FEC2" ma:contentTypeVersion="10" ma:contentTypeDescription="Create a new document." ma:contentTypeScope="" ma:versionID="7b8c96b7baea52a3d92ebc946cdd980a">
  <xsd:schema xmlns:xsd="http://www.w3.org/2001/XMLSchema" xmlns:xs="http://www.w3.org/2001/XMLSchema" xmlns:p="http://schemas.microsoft.com/office/2006/metadata/properties" xmlns:ns2="01d5e555-494a-40ad-b5bc-1378a5d8ad0d" targetNamespace="http://schemas.microsoft.com/office/2006/metadata/properties" ma:root="true" ma:fieldsID="d6e3ec0ffe3807fb9a50fdcc816cf22a" ns2:_="">
    <xsd:import namespace="01d5e555-494a-40ad-b5bc-1378a5d8ad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d5e555-494a-40ad-b5bc-1378a5d8ad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921d02d-b337-4ce5-bd1c-22d9132a6b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1d5e555-494a-40ad-b5bc-1378a5d8ad0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4B792-6C0C-4A9E-9FE6-D4C09DF5D372}">
  <ds:schemaRefs>
    <ds:schemaRef ds:uri="01d5e555-494a-40ad-b5bc-1378a5d8ad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BC2C31-623D-46AE-848B-45A6E4875B25}">
  <ds:schemaRefs>
    <ds:schemaRef ds:uri="01d5e555-494a-40ad-b5bc-1378a5d8ad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9374A97-3335-44BA-A450-18E15229FD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12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Dark Gradient</vt:lpstr>
      <vt:lpstr>SPRINT 1 PLAYBACK </vt:lpstr>
      <vt:lpstr>Project Overview PLAN &amp; ACHIEVEMENT </vt:lpstr>
      <vt:lpstr>Original Plan PLAN &amp; ACHIEVEMENT </vt:lpstr>
      <vt:lpstr>Actual Achievement PLAN &amp; ACHIEVEMENT - EVIDENCE </vt:lpstr>
      <vt:lpstr>Why It Matters IMPACT &amp; CANDOUR </vt:lpstr>
      <vt:lpstr>Blockers &amp; Open Questions IMPACT &amp; CANDOUR </vt:lpstr>
      <vt:lpstr>Task Allocation &amp; Time Spent  TRANSPARENCY &amp; DIRECTION </vt:lpstr>
      <vt:lpstr>Timeline &amp; Next Steps TRANSPARENCY &amp; DIRECTION </vt:lpstr>
      <vt:lpstr>Scarlett Heng BA  ·  TEAM CONTRIBUTION  ·  1 MINUTE </vt:lpstr>
      <vt:lpstr>Arman Gholami UX  ·  TEAM CONTRIBUTION  ·  1 MINUTE </vt:lpstr>
      <vt:lpstr>Minh Quang Tran Dev  ·  TEAM CONTRIBUTION  ·  1 MINUTE </vt:lpstr>
      <vt:lpstr>Nihal Reddy Gaddam Dev  ·  TEAM CONTRIBUTION  ·  1 MINUTE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Nawres Kas Toma</dc:creator>
  <cp:revision>7</cp:revision>
  <dcterms:created xsi:type="dcterms:W3CDTF">2026-09-10T04:13:34Z</dcterms:created>
  <dcterms:modified xsi:type="dcterms:W3CDTF">2026-09-12T13:58:33Z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0x01010032B022E3FFE7534CAF83618C1EF3FEC2</vt:lpwstr>
  </property>
  <property fmtid="{D5CDD505-2E9C-101B-9397-08002B2CF9AE}" pid="3" name="MediaServiceImageTags">
    <vt:lpwstr/>
  </property>
</Properties>
</file>